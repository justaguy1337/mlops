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32568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93425"/>
          </a:solidFill>
          <a:ln w="12700">
            <a:solidFill>
              <a:srgbClr val="C9342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4688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A2C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CMR INSTITUTE OF TECHNOLOGY   |  DATA ENGINEERING AND MLOps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555480" y="24688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77777"/>
                </a:solidFill>
              </a:rPr>
              <a:t>PROJECT PRESENTATION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94360" y="6492240"/>
            <a:ext cx="10972800" cy="0"/>
          </a:xfrm>
          <a:prstGeom prst="line">
            <a:avLst/>
          </a:prstGeom>
          <a:noFill/>
          <a:ln w="12700">
            <a:solidFill>
              <a:srgbClr val="E4E6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556248"/>
            <a:ext cx="7040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77777"/>
                </a:solidFill>
              </a:rPr>
              <a:t>Student Name: </a:t>
            </a:r>
            <a:r>
              <a:rPr lang="en-US" sz="850" b="0" u="sng" dirty="0">
                <a:solidFill>
                  <a:srgbClr val="777777"/>
                </a:solidFill>
              </a:rPr>
              <a:t>Manya Michelle </a:t>
            </a:r>
            <a:r>
              <a:rPr lang="en-US" sz="850" dirty="0">
                <a:solidFill>
                  <a:srgbClr val="777777"/>
                </a:solidFill>
              </a:rPr>
              <a:t>   |    USN: </a:t>
            </a:r>
            <a:r>
              <a:rPr lang="en-US" sz="850" b="0" u="sng" dirty="0">
                <a:solidFill>
                  <a:srgbClr val="777777"/>
                </a:solidFill>
              </a:rPr>
              <a:t>1CR23CI026</a:t>
            </a:r>
            <a:endParaRPr lang="en-US" sz="850" b="0" u="sng" dirty="0"/>
          </a:p>
        </p:txBody>
      </p:sp>
      <p:sp>
        <p:nvSpPr>
          <p:cNvPr id="7" name="Text 5"/>
          <p:cNvSpPr/>
          <p:nvPr/>
        </p:nvSpPr>
        <p:spPr>
          <a:xfrm>
            <a:off x="10789920" y="655624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C93425"/>
                </a:solidFill>
              </a:rPr>
              <a:t>CMRIT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777777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777777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93425"/>
          </a:solidFill>
          <a:ln w="12700">
            <a:solidFill>
              <a:srgbClr val="C9342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0"/>
            <a:ext cx="73152" cy="685800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pic>
        <p:nvPicPr>
          <p:cNvPr id="5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3159" y="594360"/>
            <a:ext cx="1615440" cy="1143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49808" y="1828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C93425"/>
                </a:solidFill>
              </a:rPr>
              <a:t>PROJECT PRESENTATION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49808" y="2331720"/>
            <a:ext cx="10469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3100" b="1" dirty="0">
                <a:solidFill>
                  <a:srgbClr val="17365D"/>
                </a:solidFill>
              </a:rPr>
              <a:t>Air Quality Index Analysis and Prediction Pipeline</a:t>
            </a:r>
            <a:endParaRPr lang="en-US" sz="3100" dirty="0"/>
          </a:p>
        </p:txBody>
      </p:sp>
      <p:sp>
        <p:nvSpPr>
          <p:cNvPr id="8" name="Text 5"/>
          <p:cNvSpPr/>
          <p:nvPr/>
        </p:nvSpPr>
        <p:spPr>
          <a:xfrm>
            <a:off x="768096" y="3703320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D6673"/>
                </a:solidFill>
              </a:rPr>
              <a:t>Data Engineering and MLOps  |  Individual Project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03159" y="4343400"/>
            <a:ext cx="5303520" cy="123444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24128" y="4608576"/>
            <a:ext cx="4800600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5324B"/>
                </a:solidFill>
              </a:rPr>
              <a:t>Student Name :  </a:t>
            </a:r>
            <a:r>
              <a:rPr lang="en-US" sz="1600" u="sng" dirty="0">
                <a:solidFill>
                  <a:srgbClr val="25324B"/>
                </a:solidFill>
              </a:rPr>
              <a:t>Manya Michelle</a:t>
            </a:r>
            <a:endParaRPr lang="en-US" sz="1600" u="sng" dirty="0"/>
          </a:p>
          <a:p>
            <a:pPr marL="0" indent="0">
              <a:buNone/>
            </a:pPr>
            <a:r>
              <a:rPr lang="en-US" sz="1600" dirty="0">
                <a:solidFill>
                  <a:srgbClr val="25324B"/>
                </a:solidFill>
              </a:rPr>
              <a:t>USN               :  </a:t>
            </a:r>
            <a:r>
              <a:rPr lang="en-US" sz="1600" u="sng" dirty="0">
                <a:solidFill>
                  <a:srgbClr val="25324B"/>
                </a:solidFill>
              </a:rPr>
              <a:t>1CR23CI026</a:t>
            </a:r>
            <a:endParaRPr lang="en-US" sz="1600" u="sng" dirty="0"/>
          </a:p>
        </p:txBody>
      </p:sp>
      <p:sp>
        <p:nvSpPr>
          <p:cNvPr id="11" name="Text 8"/>
          <p:cNvSpPr/>
          <p:nvPr/>
        </p:nvSpPr>
        <p:spPr>
          <a:xfrm>
            <a:off x="7452360" y="61722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777777"/>
                </a:solidFill>
              </a:rPr>
              <a:t>CMR Institute of Technology, Bengaluru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5836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365D"/>
                </a:solidFill>
              </a:rPr>
              <a:t>1. Project Overview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40080" y="1261872"/>
            <a:ext cx="1234440" cy="0"/>
          </a:xfrm>
          <a:prstGeom prst="line">
            <a:avLst/>
          </a:prstGeom>
          <a:noFill/>
          <a:ln w="50800">
            <a:solidFill>
              <a:srgbClr val="F28C2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00200"/>
            <a:ext cx="10652760" cy="4251960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15240">
            <a:solidFill>
              <a:srgbClr val="D9DE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920240"/>
            <a:ext cx="10058400" cy="3611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667085"/>
                </a:solidFill>
              </a:rPr>
              <a:t>Problem: air quality data for Indian cities is scattered across multiple APIs and formats, with no unified pipeline to clean, join, and analyze pollution and weather data together in real time.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667085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667085"/>
                </a:solidFill>
              </a:rPr>
              <a:t>Objective 1: build a reproducible, automated data pipeline that ingests raw AQI and weather data daily, validates it, and transforms it into a structured 4-layer PostgreSQL warehouse.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667085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667085"/>
                </a:solidFill>
              </a:rPr>
              <a:t>Objective 2: expose pollution trends, pollutant contributions, city comparisons, and weather impact through an interactive, filterable </a:t>
            </a:r>
            <a:r>
              <a:rPr lang="en-US" dirty="0" err="1">
                <a:solidFill>
                  <a:srgbClr val="667085"/>
                </a:solidFill>
              </a:rPr>
              <a:t>Streamlit</a:t>
            </a:r>
            <a:r>
              <a:rPr lang="en-US" dirty="0">
                <a:solidFill>
                  <a:srgbClr val="667085"/>
                </a:solidFill>
              </a:rPr>
              <a:t> dashboard with five meaningful views.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667085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667085"/>
                </a:solidFill>
              </a:rPr>
              <a:t>Objective 3: extend the pipeline into a full </a:t>
            </a:r>
            <a:r>
              <a:rPr lang="en-US" dirty="0" err="1">
                <a:solidFill>
                  <a:srgbClr val="667085"/>
                </a:solidFill>
              </a:rPr>
              <a:t>MLOps</a:t>
            </a:r>
            <a:r>
              <a:rPr lang="en-US" dirty="0">
                <a:solidFill>
                  <a:srgbClr val="667085"/>
                </a:solidFill>
              </a:rPr>
              <a:t> loop that forecasts next-day AQI using trained ML models and serves predictions through a live </a:t>
            </a:r>
            <a:r>
              <a:rPr lang="en-US" dirty="0" err="1">
                <a:solidFill>
                  <a:srgbClr val="667085"/>
                </a:solidFill>
              </a:rPr>
              <a:t>FastAPI</a:t>
            </a:r>
            <a:r>
              <a:rPr lang="en-US" dirty="0">
                <a:solidFill>
                  <a:srgbClr val="667085"/>
                </a:solidFill>
              </a:rPr>
              <a:t> endpoint containerized with Docker.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667085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667085"/>
                </a:solidFill>
              </a:rPr>
              <a:t>Expected outcome: an end-to-end AQI intelligence system — from raw API data to a ranked, interactive dashboard and a deployable prediction API — enabling data-driven air quality monitoring and early intervention.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56248"/>
            <a:ext cx="800000" cy="300000"/>
          </a:xfr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777777"/>
                </a:solidFill>
              </a:defRPr>
            </a:lvl1pPr>
          </a:lstStyle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5836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365D"/>
                </a:solidFill>
              </a:rPr>
              <a:t>2. Dataset &amp; Data Sources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40080" y="1261872"/>
            <a:ext cx="1234440" cy="0"/>
          </a:xfrm>
          <a:prstGeom prst="line">
            <a:avLst/>
          </a:prstGeom>
          <a:noFill/>
          <a:ln w="50800">
            <a:solidFill>
              <a:srgbClr val="F28C2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00200"/>
            <a:ext cx="10652760" cy="4251960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15240">
            <a:solidFill>
              <a:srgbClr val="D9DE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920240"/>
            <a:ext cx="10058400" cy="3611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667085"/>
                </a:solidFill>
              </a:rPr>
              <a:t>Dataset 1: </a:t>
            </a:r>
            <a:r>
              <a:rPr lang="en-US" sz="1600" dirty="0" err="1">
                <a:solidFill>
                  <a:srgbClr val="667085"/>
                </a:solidFill>
              </a:rPr>
              <a:t>OpenAQ</a:t>
            </a:r>
            <a:r>
              <a:rPr lang="en-US" sz="1600" dirty="0">
                <a:solidFill>
                  <a:srgbClr val="667085"/>
                </a:solidFill>
              </a:rPr>
              <a:t> v3 API — api.openaq.org/v3, free and public, no login required; covers PM2.5, PM10, NO₂, O₃, CO, and SO₂ readings from CPCB-linked monitoring stations across Delhi, Mumbai, Bengaluru, Chennai, and Kolkata.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667085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667085"/>
                </a:solidFill>
              </a:rPr>
              <a:t>Dataset 2: Open-</a:t>
            </a:r>
            <a:r>
              <a:rPr lang="en-US" sz="1600" dirty="0" err="1">
                <a:solidFill>
                  <a:srgbClr val="667085"/>
                </a:solidFill>
              </a:rPr>
              <a:t>Meteo</a:t>
            </a:r>
            <a:r>
              <a:rPr lang="en-US" sz="1600" dirty="0">
                <a:solidFill>
                  <a:srgbClr val="667085"/>
                </a:solidFill>
              </a:rPr>
              <a:t> Archive API — open-meteo.com, completely free, no API key required; provides hourly temperature, humidity, wind speed, precipitation, and pressure for the same five cities.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667085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667085"/>
                </a:solidFill>
              </a:rPr>
              <a:t>Important attributes: </a:t>
            </a:r>
            <a:r>
              <a:rPr lang="en-US" sz="1600" dirty="0" err="1">
                <a:solidFill>
                  <a:srgbClr val="667085"/>
                </a:solidFill>
              </a:rPr>
              <a:t>location_id</a:t>
            </a:r>
            <a:r>
              <a:rPr lang="en-US" sz="1600" dirty="0">
                <a:solidFill>
                  <a:srgbClr val="667085"/>
                </a:solidFill>
              </a:rPr>
              <a:t>, </a:t>
            </a:r>
            <a:r>
              <a:rPr lang="en-US" sz="1600" dirty="0" err="1">
                <a:solidFill>
                  <a:srgbClr val="667085"/>
                </a:solidFill>
              </a:rPr>
              <a:t>station_name</a:t>
            </a:r>
            <a:r>
              <a:rPr lang="en-US" sz="1600" dirty="0">
                <a:solidFill>
                  <a:srgbClr val="667085"/>
                </a:solidFill>
              </a:rPr>
              <a:t>, city, parameter, value (µg/m³), </a:t>
            </a:r>
            <a:r>
              <a:rPr lang="en-US" sz="1600" dirty="0" err="1">
                <a:solidFill>
                  <a:srgbClr val="667085"/>
                </a:solidFill>
              </a:rPr>
              <a:t>measured_at</a:t>
            </a:r>
            <a:r>
              <a:rPr lang="en-US" sz="1600" dirty="0">
                <a:solidFill>
                  <a:srgbClr val="667085"/>
                </a:solidFill>
              </a:rPr>
              <a:t> timestamp (Source 1); temperature_2m, relative_humidity_2m, wind_speed_10m, precipitation (Source 2).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667085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667085"/>
                </a:solidFill>
              </a:rPr>
              <a:t>Data size: approximately 50,000–150,000 AQI measurement records and 3,600 weather records per 30-day backfill across five cities; no synthetic data is fabricated — all values are live sensor or reanalysis readings.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667085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667085"/>
                </a:solidFill>
              </a:rPr>
              <a:t>Access method: both sources fetched fully programmatically via Python requests with no manual steps or credentials; raw JSON responses saved to data/raw/ before any transformation is applied.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777777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5836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365D"/>
                </a:solidFill>
              </a:rPr>
              <a:t>3. Proposed Data Architecture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40080" y="1261872"/>
            <a:ext cx="1234440" cy="0"/>
          </a:xfrm>
          <a:prstGeom prst="line">
            <a:avLst/>
          </a:prstGeom>
          <a:noFill/>
          <a:ln w="50800">
            <a:solidFill>
              <a:srgbClr val="F28C2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00200"/>
            <a:ext cx="11230730" cy="4251960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15240">
            <a:solidFill>
              <a:srgbClr val="D9DE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920240"/>
            <a:ext cx="10058400" cy="3611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777777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  <p:sp>
        <p:nvSpPr>
          <p:cNvPr id="6" name="Shape 9">
            <a:extLst>
              <a:ext uri="{FF2B5EF4-FFF2-40B4-BE49-F238E27FC236}">
                <a16:creationId xmlns:a16="http://schemas.microsoft.com/office/drawing/2014/main" id="{CCFAD6A9-688E-BA34-E8B1-69BCC1791BAE}"/>
              </a:ext>
            </a:extLst>
          </p:cNvPr>
          <p:cNvSpPr/>
          <p:nvPr/>
        </p:nvSpPr>
        <p:spPr>
          <a:xfrm>
            <a:off x="1051560" y="1824487"/>
            <a:ext cx="1627632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17365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10">
            <a:extLst>
              <a:ext uri="{FF2B5EF4-FFF2-40B4-BE49-F238E27FC236}">
                <a16:creationId xmlns:a16="http://schemas.microsoft.com/office/drawing/2014/main" id="{608ED4D7-158D-331C-3E4C-D75845E01838}"/>
              </a:ext>
            </a:extLst>
          </p:cNvPr>
          <p:cNvSpPr/>
          <p:nvPr/>
        </p:nvSpPr>
        <p:spPr>
          <a:xfrm>
            <a:off x="1051560" y="1824487"/>
            <a:ext cx="1627632" cy="9144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1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 (</a:t>
            </a:r>
            <a:r>
              <a:rPr lang="en-US" sz="1100" b="1" dirty="0" err="1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OpenAQ</a:t>
            </a:r>
            <a:r>
              <a:rPr lang="en-US" sz="11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Open-</a:t>
            </a:r>
            <a:r>
              <a:rPr lang="en-US" sz="1100" b="1" dirty="0" err="1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Meteo</a:t>
            </a:r>
            <a:r>
              <a:rPr lang="en-US" sz="11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APIs)</a:t>
            </a:r>
            <a:endParaRPr lang="en-US" sz="1100" dirty="0"/>
          </a:p>
        </p:txBody>
      </p:sp>
      <p:sp>
        <p:nvSpPr>
          <p:cNvPr id="8" name="Shape 11">
            <a:extLst>
              <a:ext uri="{FF2B5EF4-FFF2-40B4-BE49-F238E27FC236}">
                <a16:creationId xmlns:a16="http://schemas.microsoft.com/office/drawing/2014/main" id="{55DDBE5D-4687-933E-679E-5141E2F8F22F}"/>
              </a:ext>
            </a:extLst>
          </p:cNvPr>
          <p:cNvSpPr/>
          <p:nvPr/>
        </p:nvSpPr>
        <p:spPr>
          <a:xfrm>
            <a:off x="2679192" y="2281687"/>
            <a:ext cx="182880" cy="0"/>
          </a:xfrm>
          <a:prstGeom prst="line">
            <a:avLst/>
          </a:prstGeom>
          <a:noFill/>
          <a:ln w="22225">
            <a:solidFill>
              <a:srgbClr val="F28C28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12">
            <a:extLst>
              <a:ext uri="{FF2B5EF4-FFF2-40B4-BE49-F238E27FC236}">
                <a16:creationId xmlns:a16="http://schemas.microsoft.com/office/drawing/2014/main" id="{845CB2C4-591E-1AED-427B-1EC0DEA60951}"/>
              </a:ext>
            </a:extLst>
          </p:cNvPr>
          <p:cNvSpPr/>
          <p:nvPr/>
        </p:nvSpPr>
        <p:spPr>
          <a:xfrm>
            <a:off x="2862072" y="1824487"/>
            <a:ext cx="1627632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17365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13">
            <a:extLst>
              <a:ext uri="{FF2B5EF4-FFF2-40B4-BE49-F238E27FC236}">
                <a16:creationId xmlns:a16="http://schemas.microsoft.com/office/drawing/2014/main" id="{5D61BFBC-ADE4-D7DC-1A9B-2C065B7258DF}"/>
              </a:ext>
            </a:extLst>
          </p:cNvPr>
          <p:cNvSpPr/>
          <p:nvPr/>
        </p:nvSpPr>
        <p:spPr>
          <a:xfrm>
            <a:off x="2862072" y="1824487"/>
            <a:ext cx="1627632" cy="9144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1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Ingestion (Python requests)</a:t>
            </a:r>
            <a:endParaRPr lang="en-US" sz="1100" dirty="0"/>
          </a:p>
        </p:txBody>
      </p:sp>
      <p:sp>
        <p:nvSpPr>
          <p:cNvPr id="11" name="Shape 14">
            <a:extLst>
              <a:ext uri="{FF2B5EF4-FFF2-40B4-BE49-F238E27FC236}">
                <a16:creationId xmlns:a16="http://schemas.microsoft.com/office/drawing/2014/main" id="{FA48ECD6-3D92-BBE0-1F35-E946C69EB35C}"/>
              </a:ext>
            </a:extLst>
          </p:cNvPr>
          <p:cNvSpPr/>
          <p:nvPr/>
        </p:nvSpPr>
        <p:spPr>
          <a:xfrm>
            <a:off x="4489704" y="2281687"/>
            <a:ext cx="182880" cy="0"/>
          </a:xfrm>
          <a:prstGeom prst="line">
            <a:avLst/>
          </a:prstGeom>
          <a:noFill/>
          <a:ln w="22225">
            <a:solidFill>
              <a:srgbClr val="F28C28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5">
            <a:extLst>
              <a:ext uri="{FF2B5EF4-FFF2-40B4-BE49-F238E27FC236}">
                <a16:creationId xmlns:a16="http://schemas.microsoft.com/office/drawing/2014/main" id="{53DACBDC-44CD-94B1-7727-B4AFDFE72C15}"/>
              </a:ext>
            </a:extLst>
          </p:cNvPr>
          <p:cNvSpPr/>
          <p:nvPr/>
        </p:nvSpPr>
        <p:spPr>
          <a:xfrm>
            <a:off x="4672584" y="1824487"/>
            <a:ext cx="1627632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17365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6">
            <a:extLst>
              <a:ext uri="{FF2B5EF4-FFF2-40B4-BE49-F238E27FC236}">
                <a16:creationId xmlns:a16="http://schemas.microsoft.com/office/drawing/2014/main" id="{96A61505-A72F-6FF4-8B17-E8F994F57BEF}"/>
              </a:ext>
            </a:extLst>
          </p:cNvPr>
          <p:cNvSpPr/>
          <p:nvPr/>
        </p:nvSpPr>
        <p:spPr>
          <a:xfrm>
            <a:off x="4672584" y="1824487"/>
            <a:ext cx="1627632" cy="9144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1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/ Staging</a:t>
            </a:r>
            <a:endParaRPr lang="en-US" sz="1100" dirty="0"/>
          </a:p>
        </p:txBody>
      </p:sp>
      <p:sp>
        <p:nvSpPr>
          <p:cNvPr id="14" name="Shape 17">
            <a:extLst>
              <a:ext uri="{FF2B5EF4-FFF2-40B4-BE49-F238E27FC236}">
                <a16:creationId xmlns:a16="http://schemas.microsoft.com/office/drawing/2014/main" id="{D4401B31-1B46-ABE1-7489-A52FB165B745}"/>
              </a:ext>
            </a:extLst>
          </p:cNvPr>
          <p:cNvSpPr/>
          <p:nvPr/>
        </p:nvSpPr>
        <p:spPr>
          <a:xfrm>
            <a:off x="6300216" y="2281687"/>
            <a:ext cx="182880" cy="0"/>
          </a:xfrm>
          <a:prstGeom prst="line">
            <a:avLst/>
          </a:prstGeom>
          <a:noFill/>
          <a:ln w="22225">
            <a:solidFill>
              <a:srgbClr val="F28C28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8">
            <a:extLst>
              <a:ext uri="{FF2B5EF4-FFF2-40B4-BE49-F238E27FC236}">
                <a16:creationId xmlns:a16="http://schemas.microsoft.com/office/drawing/2014/main" id="{2F556432-58CA-8F30-0D82-C0BE410A19E9}"/>
              </a:ext>
            </a:extLst>
          </p:cNvPr>
          <p:cNvSpPr/>
          <p:nvPr/>
        </p:nvSpPr>
        <p:spPr>
          <a:xfrm>
            <a:off x="6483096" y="1824487"/>
            <a:ext cx="1627632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17365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9">
            <a:extLst>
              <a:ext uri="{FF2B5EF4-FFF2-40B4-BE49-F238E27FC236}">
                <a16:creationId xmlns:a16="http://schemas.microsoft.com/office/drawing/2014/main" id="{5F624470-ACFE-0140-B3B5-3C773B1B25F3}"/>
              </a:ext>
            </a:extLst>
          </p:cNvPr>
          <p:cNvSpPr/>
          <p:nvPr/>
        </p:nvSpPr>
        <p:spPr>
          <a:xfrm>
            <a:off x="6483096" y="1824487"/>
            <a:ext cx="1627632" cy="9144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1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Transformation (Validate + AQI Calc)</a:t>
            </a:r>
            <a:endParaRPr lang="en-US" sz="1100" dirty="0"/>
          </a:p>
        </p:txBody>
      </p:sp>
      <p:sp>
        <p:nvSpPr>
          <p:cNvPr id="17" name="Shape 20">
            <a:extLst>
              <a:ext uri="{FF2B5EF4-FFF2-40B4-BE49-F238E27FC236}">
                <a16:creationId xmlns:a16="http://schemas.microsoft.com/office/drawing/2014/main" id="{4327F49A-E0FA-005D-FC21-A4330B779C7E}"/>
              </a:ext>
            </a:extLst>
          </p:cNvPr>
          <p:cNvSpPr/>
          <p:nvPr/>
        </p:nvSpPr>
        <p:spPr>
          <a:xfrm>
            <a:off x="8110728" y="2281687"/>
            <a:ext cx="182880" cy="0"/>
          </a:xfrm>
          <a:prstGeom prst="line">
            <a:avLst/>
          </a:prstGeom>
          <a:noFill/>
          <a:ln w="22225">
            <a:solidFill>
              <a:srgbClr val="F28C28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21">
            <a:extLst>
              <a:ext uri="{FF2B5EF4-FFF2-40B4-BE49-F238E27FC236}">
                <a16:creationId xmlns:a16="http://schemas.microsoft.com/office/drawing/2014/main" id="{5510ED68-486B-F228-C2DD-6FC2FAD8D94E}"/>
              </a:ext>
            </a:extLst>
          </p:cNvPr>
          <p:cNvSpPr/>
          <p:nvPr/>
        </p:nvSpPr>
        <p:spPr>
          <a:xfrm>
            <a:off x="8293608" y="1824487"/>
            <a:ext cx="1627632" cy="914400"/>
          </a:xfrm>
          <a:prstGeom prst="roundRect">
            <a:avLst>
              <a:gd name="adj" fmla="val 7000"/>
            </a:avLst>
          </a:prstGeom>
          <a:solidFill>
            <a:srgbClr val="EEF2F7"/>
          </a:solidFill>
          <a:ln w="15875">
            <a:solidFill>
              <a:srgbClr val="17365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22">
            <a:extLst>
              <a:ext uri="{FF2B5EF4-FFF2-40B4-BE49-F238E27FC236}">
                <a16:creationId xmlns:a16="http://schemas.microsoft.com/office/drawing/2014/main" id="{E4DC18B9-F840-1809-DD03-45DC12C0CB12}"/>
              </a:ext>
            </a:extLst>
          </p:cNvPr>
          <p:cNvSpPr/>
          <p:nvPr/>
        </p:nvSpPr>
        <p:spPr>
          <a:xfrm>
            <a:off x="8293608" y="1824487"/>
            <a:ext cx="1627632" cy="9144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1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Warehouse</a:t>
            </a:r>
            <a:endParaRPr lang="en-US" sz="1100" dirty="0"/>
          </a:p>
        </p:txBody>
      </p:sp>
      <p:sp>
        <p:nvSpPr>
          <p:cNvPr id="20" name="Shape 23">
            <a:extLst>
              <a:ext uri="{FF2B5EF4-FFF2-40B4-BE49-F238E27FC236}">
                <a16:creationId xmlns:a16="http://schemas.microsoft.com/office/drawing/2014/main" id="{B554540D-04B9-3F37-0BF2-3BD3882F0502}"/>
              </a:ext>
            </a:extLst>
          </p:cNvPr>
          <p:cNvSpPr/>
          <p:nvPr/>
        </p:nvSpPr>
        <p:spPr>
          <a:xfrm>
            <a:off x="9921240" y="2281687"/>
            <a:ext cx="182880" cy="0"/>
          </a:xfrm>
          <a:prstGeom prst="line">
            <a:avLst/>
          </a:prstGeom>
          <a:noFill/>
          <a:ln w="22225">
            <a:solidFill>
              <a:srgbClr val="F28C28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24">
            <a:extLst>
              <a:ext uri="{FF2B5EF4-FFF2-40B4-BE49-F238E27FC236}">
                <a16:creationId xmlns:a16="http://schemas.microsoft.com/office/drawing/2014/main" id="{6092F959-4021-E6FA-3987-85F41AD2570C}"/>
              </a:ext>
            </a:extLst>
          </p:cNvPr>
          <p:cNvSpPr/>
          <p:nvPr/>
        </p:nvSpPr>
        <p:spPr>
          <a:xfrm>
            <a:off x="10104120" y="1824487"/>
            <a:ext cx="1627632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17365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5">
            <a:extLst>
              <a:ext uri="{FF2B5EF4-FFF2-40B4-BE49-F238E27FC236}">
                <a16:creationId xmlns:a16="http://schemas.microsoft.com/office/drawing/2014/main" id="{AA7F94CA-D6F1-0442-1C2C-91E06C605E2B}"/>
              </a:ext>
            </a:extLst>
          </p:cNvPr>
          <p:cNvSpPr/>
          <p:nvPr/>
        </p:nvSpPr>
        <p:spPr>
          <a:xfrm>
            <a:off x="10104120" y="1824487"/>
            <a:ext cx="1627632" cy="9144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1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(</a:t>
            </a:r>
            <a:r>
              <a:rPr lang="en-US" sz="1100" b="1" dirty="0" err="1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</a:t>
            </a:r>
            <a:r>
              <a:rPr lang="en-US" sz="11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100" dirty="0"/>
          </a:p>
        </p:txBody>
      </p:sp>
      <p:sp>
        <p:nvSpPr>
          <p:cNvPr id="23" name="Text 28">
            <a:extLst>
              <a:ext uri="{FF2B5EF4-FFF2-40B4-BE49-F238E27FC236}">
                <a16:creationId xmlns:a16="http://schemas.microsoft.com/office/drawing/2014/main" id="{A3CE74ED-C71D-83DA-F76C-7F474AF4390D}"/>
              </a:ext>
            </a:extLst>
          </p:cNvPr>
          <p:cNvSpPr/>
          <p:nvPr/>
        </p:nvSpPr>
        <p:spPr>
          <a:xfrm>
            <a:off x="6460236" y="3441077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250" b="1" dirty="0">
                <a:solidFill>
                  <a:srgbClr val="C93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MLOps Extension — Part 2</a:t>
            </a:r>
            <a:endParaRPr lang="en-US" sz="1250" dirty="0"/>
          </a:p>
        </p:txBody>
      </p:sp>
      <p:sp>
        <p:nvSpPr>
          <p:cNvPr id="24" name="Shape 29">
            <a:extLst>
              <a:ext uri="{FF2B5EF4-FFF2-40B4-BE49-F238E27FC236}">
                <a16:creationId xmlns:a16="http://schemas.microsoft.com/office/drawing/2014/main" id="{C357EFCD-C976-D20C-FA90-0FC13AFEFBBC}"/>
              </a:ext>
            </a:extLst>
          </p:cNvPr>
          <p:cNvSpPr/>
          <p:nvPr/>
        </p:nvSpPr>
        <p:spPr>
          <a:xfrm>
            <a:off x="1257300" y="3806837"/>
            <a:ext cx="2331720" cy="868680"/>
          </a:xfrm>
          <a:prstGeom prst="roundRect">
            <a:avLst>
              <a:gd name="adj" fmla="val 7368"/>
            </a:avLst>
          </a:prstGeom>
          <a:solidFill>
            <a:srgbClr val="FBEAE8"/>
          </a:solidFill>
          <a:ln w="15875">
            <a:solidFill>
              <a:srgbClr val="C9342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30">
            <a:extLst>
              <a:ext uri="{FF2B5EF4-FFF2-40B4-BE49-F238E27FC236}">
                <a16:creationId xmlns:a16="http://schemas.microsoft.com/office/drawing/2014/main" id="{B8135F4F-29B1-7171-8571-9296BEB416E5}"/>
              </a:ext>
            </a:extLst>
          </p:cNvPr>
          <p:cNvSpPr/>
          <p:nvPr/>
        </p:nvSpPr>
        <p:spPr>
          <a:xfrm>
            <a:off x="1257300" y="3806837"/>
            <a:ext cx="2331720" cy="8686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+ Track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(MLflow)</a:t>
            </a:r>
            <a:endParaRPr lang="en-US" sz="1100" dirty="0"/>
          </a:p>
        </p:txBody>
      </p:sp>
      <p:sp>
        <p:nvSpPr>
          <p:cNvPr id="27" name="Shape 31">
            <a:extLst>
              <a:ext uri="{FF2B5EF4-FFF2-40B4-BE49-F238E27FC236}">
                <a16:creationId xmlns:a16="http://schemas.microsoft.com/office/drawing/2014/main" id="{8B7CA6F9-7989-77C5-C905-36F3C6B7A410}"/>
              </a:ext>
            </a:extLst>
          </p:cNvPr>
          <p:cNvSpPr/>
          <p:nvPr/>
        </p:nvSpPr>
        <p:spPr>
          <a:xfrm>
            <a:off x="3589020" y="4241177"/>
            <a:ext cx="228600" cy="0"/>
          </a:xfrm>
          <a:prstGeom prst="line">
            <a:avLst/>
          </a:prstGeom>
          <a:noFill/>
          <a:ln w="19050">
            <a:solidFill>
              <a:srgbClr val="C93425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32">
            <a:extLst>
              <a:ext uri="{FF2B5EF4-FFF2-40B4-BE49-F238E27FC236}">
                <a16:creationId xmlns:a16="http://schemas.microsoft.com/office/drawing/2014/main" id="{970F76BF-DBFF-539A-578D-ACFE103E6D7E}"/>
              </a:ext>
            </a:extLst>
          </p:cNvPr>
          <p:cNvSpPr/>
          <p:nvPr/>
        </p:nvSpPr>
        <p:spPr>
          <a:xfrm>
            <a:off x="3817620" y="3806837"/>
            <a:ext cx="2331720" cy="868680"/>
          </a:xfrm>
          <a:prstGeom prst="roundRect">
            <a:avLst>
              <a:gd name="adj" fmla="val 7368"/>
            </a:avLst>
          </a:prstGeom>
          <a:solidFill>
            <a:srgbClr val="FBEAE8"/>
          </a:solidFill>
          <a:ln w="15875">
            <a:solidFill>
              <a:srgbClr val="C9342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33">
            <a:extLst>
              <a:ext uri="{FF2B5EF4-FFF2-40B4-BE49-F238E27FC236}">
                <a16:creationId xmlns:a16="http://schemas.microsoft.com/office/drawing/2014/main" id="{E7A7AD54-8998-F9EA-6819-8B794A17239A}"/>
              </a:ext>
            </a:extLst>
          </p:cNvPr>
          <p:cNvSpPr/>
          <p:nvPr/>
        </p:nvSpPr>
        <p:spPr>
          <a:xfrm>
            <a:off x="3817620" y="3806837"/>
            <a:ext cx="2331720" cy="8686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Registry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(production)</a:t>
            </a:r>
            <a:endParaRPr lang="en-US" sz="1100" dirty="0"/>
          </a:p>
        </p:txBody>
      </p:sp>
      <p:sp>
        <p:nvSpPr>
          <p:cNvPr id="30" name="Shape 34">
            <a:extLst>
              <a:ext uri="{FF2B5EF4-FFF2-40B4-BE49-F238E27FC236}">
                <a16:creationId xmlns:a16="http://schemas.microsoft.com/office/drawing/2014/main" id="{9EBC97F1-128A-B304-9837-9B132A6EB81C}"/>
              </a:ext>
            </a:extLst>
          </p:cNvPr>
          <p:cNvSpPr/>
          <p:nvPr/>
        </p:nvSpPr>
        <p:spPr>
          <a:xfrm>
            <a:off x="6149340" y="4241177"/>
            <a:ext cx="228600" cy="0"/>
          </a:xfrm>
          <a:prstGeom prst="line">
            <a:avLst/>
          </a:prstGeom>
          <a:noFill/>
          <a:ln w="19050">
            <a:solidFill>
              <a:srgbClr val="C93425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35">
            <a:extLst>
              <a:ext uri="{FF2B5EF4-FFF2-40B4-BE49-F238E27FC236}">
                <a16:creationId xmlns:a16="http://schemas.microsoft.com/office/drawing/2014/main" id="{5842F763-B681-AD99-DDC7-E1F51AF2957A}"/>
              </a:ext>
            </a:extLst>
          </p:cNvPr>
          <p:cNvSpPr/>
          <p:nvPr/>
        </p:nvSpPr>
        <p:spPr>
          <a:xfrm>
            <a:off x="6377940" y="3806837"/>
            <a:ext cx="2331720" cy="868680"/>
          </a:xfrm>
          <a:prstGeom prst="roundRect">
            <a:avLst>
              <a:gd name="adj" fmla="val 7368"/>
            </a:avLst>
          </a:prstGeom>
          <a:solidFill>
            <a:srgbClr val="FBEAE8"/>
          </a:solidFill>
          <a:ln w="15875">
            <a:solidFill>
              <a:srgbClr val="C9342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6">
            <a:extLst>
              <a:ext uri="{FF2B5EF4-FFF2-40B4-BE49-F238E27FC236}">
                <a16:creationId xmlns:a16="http://schemas.microsoft.com/office/drawing/2014/main" id="{92BE8A54-9DBB-9A3C-2621-4C0AE16EA446}"/>
              </a:ext>
            </a:extLst>
          </p:cNvPr>
          <p:cNvSpPr/>
          <p:nvPr/>
        </p:nvSpPr>
        <p:spPr>
          <a:xfrm>
            <a:off x="6377940" y="3806837"/>
            <a:ext cx="2331720" cy="8686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(FastAPI + Docker)</a:t>
            </a:r>
            <a:endParaRPr lang="en-US" sz="1100" dirty="0"/>
          </a:p>
        </p:txBody>
      </p:sp>
      <p:sp>
        <p:nvSpPr>
          <p:cNvPr id="33" name="Shape 37">
            <a:extLst>
              <a:ext uri="{FF2B5EF4-FFF2-40B4-BE49-F238E27FC236}">
                <a16:creationId xmlns:a16="http://schemas.microsoft.com/office/drawing/2014/main" id="{AD724EDF-5867-C253-DCBE-EDF737FA5AFF}"/>
              </a:ext>
            </a:extLst>
          </p:cNvPr>
          <p:cNvSpPr/>
          <p:nvPr/>
        </p:nvSpPr>
        <p:spPr>
          <a:xfrm>
            <a:off x="8709660" y="4241177"/>
            <a:ext cx="228600" cy="0"/>
          </a:xfrm>
          <a:prstGeom prst="line">
            <a:avLst/>
          </a:prstGeom>
          <a:noFill/>
          <a:ln w="19050">
            <a:solidFill>
              <a:srgbClr val="C93425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8">
            <a:extLst>
              <a:ext uri="{FF2B5EF4-FFF2-40B4-BE49-F238E27FC236}">
                <a16:creationId xmlns:a16="http://schemas.microsoft.com/office/drawing/2014/main" id="{D0E82C6D-FA16-0F8C-D4BC-1A5DF9E37702}"/>
              </a:ext>
            </a:extLst>
          </p:cNvPr>
          <p:cNvSpPr/>
          <p:nvPr/>
        </p:nvSpPr>
        <p:spPr>
          <a:xfrm>
            <a:off x="8938260" y="3806837"/>
            <a:ext cx="2331720" cy="868680"/>
          </a:xfrm>
          <a:prstGeom prst="roundRect">
            <a:avLst>
              <a:gd name="adj" fmla="val 7368"/>
            </a:avLst>
          </a:prstGeom>
          <a:solidFill>
            <a:srgbClr val="FBEAE8"/>
          </a:solidFill>
          <a:ln w="15875">
            <a:solidFill>
              <a:srgbClr val="C9342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9">
            <a:extLst>
              <a:ext uri="{FF2B5EF4-FFF2-40B4-BE49-F238E27FC236}">
                <a16:creationId xmlns:a16="http://schemas.microsoft.com/office/drawing/2014/main" id="{6DFAB9EA-29B6-EB5A-9C9E-6B56490B43DE}"/>
              </a:ext>
            </a:extLst>
          </p:cNvPr>
          <p:cNvSpPr/>
          <p:nvPr/>
        </p:nvSpPr>
        <p:spPr>
          <a:xfrm>
            <a:off x="8938260" y="3806837"/>
            <a:ext cx="2331720" cy="8686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1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</a:t>
            </a:r>
          </a:p>
          <a:p>
            <a:pPr algn="ctr"/>
            <a:r>
              <a:rPr lang="en-US" sz="11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(Drift / PSI)</a:t>
            </a:r>
            <a:endParaRPr lang="en-US" sz="1100" dirty="0"/>
          </a:p>
        </p:txBody>
      </p:sp>
      <p:sp>
        <p:nvSpPr>
          <p:cNvPr id="36" name="Text 40">
            <a:extLst>
              <a:ext uri="{FF2B5EF4-FFF2-40B4-BE49-F238E27FC236}">
                <a16:creationId xmlns:a16="http://schemas.microsoft.com/office/drawing/2014/main" id="{C2020D4C-9FE9-F9C9-83CC-4271FEF8FD81}"/>
              </a:ext>
            </a:extLst>
          </p:cNvPr>
          <p:cNvSpPr/>
          <p:nvPr/>
        </p:nvSpPr>
        <p:spPr>
          <a:xfrm>
            <a:off x="1035170" y="4968814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670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Storage: PostgreSQL 16 with a 4-layer schema (raw → staging → cleaned → gold) — all layers are independently </a:t>
            </a:r>
            <a:r>
              <a:rPr lang="en-US" sz="1200" dirty="0" err="1">
                <a:solidFill>
                  <a:srgbClr val="6670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queryable</a:t>
            </a:r>
            <a:r>
              <a:rPr lang="en-US" sz="1200" dirty="0">
                <a:solidFill>
                  <a:srgbClr val="6670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the gold layer is rebuilt idempotently on every run.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670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gold-layer warehouse feeds both the </a:t>
            </a:r>
            <a:r>
              <a:rPr lang="en-US" sz="1200" dirty="0" err="1">
                <a:solidFill>
                  <a:srgbClr val="6670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</a:t>
            </a:r>
            <a:r>
              <a:rPr lang="en-US" sz="1200" dirty="0">
                <a:solidFill>
                  <a:srgbClr val="6670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dashboard and the Part 2 </a:t>
            </a:r>
            <a:r>
              <a:rPr lang="en-US" sz="1200" dirty="0" err="1">
                <a:solidFill>
                  <a:srgbClr val="6670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MLOps</a:t>
            </a:r>
            <a:r>
              <a:rPr lang="en-US" sz="1200" dirty="0">
                <a:solidFill>
                  <a:srgbClr val="6670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training pipeline, so features stay consistent end-to-end.</a:t>
            </a:r>
            <a:endParaRPr lang="en-US" sz="1200" dirty="0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64F1EB2F-F899-B57E-BB45-4AD25FE91D28}"/>
              </a:ext>
            </a:extLst>
          </p:cNvPr>
          <p:cNvCxnSpPr/>
          <p:nvPr/>
        </p:nvCxnSpPr>
        <p:spPr>
          <a:xfrm>
            <a:off x="8938260" y="2855343"/>
            <a:ext cx="0" cy="722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9" name="Text 26">
            <a:extLst>
              <a:ext uri="{FF2B5EF4-FFF2-40B4-BE49-F238E27FC236}">
                <a16:creationId xmlns:a16="http://schemas.microsoft.com/office/drawing/2014/main" id="{7D6019BB-DD30-8C01-5E3F-0CE7B2E52BA2}"/>
              </a:ext>
            </a:extLst>
          </p:cNvPr>
          <p:cNvSpPr/>
          <p:nvPr/>
        </p:nvSpPr>
        <p:spPr>
          <a:xfrm>
            <a:off x="891540" y="2990347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150" i="1" dirty="0">
                <a:solidFill>
                  <a:srgbClr val="6670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Orchestrated by Apache Airflow DAGs — daily ingestion at 02:00 UTC and ETL at 04:00 UTC — with retries, quality gates, and full ingestion logging at every stage.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5836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365D"/>
                </a:solidFill>
              </a:rPr>
              <a:t>4. Data Ingestion Pipeline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40080" y="1261872"/>
            <a:ext cx="1234440" cy="0"/>
          </a:xfrm>
          <a:prstGeom prst="line">
            <a:avLst/>
          </a:prstGeom>
          <a:noFill/>
          <a:ln w="50800">
            <a:solidFill>
              <a:srgbClr val="F28C2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00200"/>
            <a:ext cx="10652760" cy="4251960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15240">
            <a:solidFill>
              <a:srgbClr val="D9DE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920240"/>
            <a:ext cx="10058400" cy="3611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667085"/>
                </a:solidFill>
              </a:rPr>
              <a:t>ingestion/openaq_collector.py fetches PM2.5, PM10, NO₂, O₃, CO, and SO₂ from the </a:t>
            </a:r>
            <a:r>
              <a:rPr lang="en-US" sz="1600" dirty="0" err="1">
                <a:solidFill>
                  <a:srgbClr val="667085"/>
                </a:solidFill>
              </a:rPr>
              <a:t>OpenAQ</a:t>
            </a:r>
            <a:r>
              <a:rPr lang="en-US" sz="1600" dirty="0">
                <a:solidFill>
                  <a:srgbClr val="667085"/>
                </a:solidFill>
              </a:rPr>
              <a:t> v3 REST API; ingestion/openmeteo_collector.py fetches hourly weather variables from Open-</a:t>
            </a:r>
            <a:r>
              <a:rPr lang="en-US" sz="1600" dirty="0" err="1">
                <a:solidFill>
                  <a:srgbClr val="667085"/>
                </a:solidFill>
              </a:rPr>
              <a:t>Meteo</a:t>
            </a:r>
            <a:r>
              <a:rPr lang="en-US" sz="1600" dirty="0">
                <a:solidFill>
                  <a:srgbClr val="667085"/>
                </a:solidFill>
              </a:rPr>
              <a:t> — both write immutable raw JSON files to data/raw/ before any transformation is applied.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667085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667085"/>
                </a:solidFill>
              </a:rPr>
              <a:t>Every extraction attempt is logged to data/logs/ingestion_log.csv with source, status, </a:t>
            </a:r>
            <a:r>
              <a:rPr lang="en-US" sz="1600" dirty="0" err="1">
                <a:solidFill>
                  <a:srgbClr val="667085"/>
                </a:solidFill>
              </a:rPr>
              <a:t>row_count</a:t>
            </a:r>
            <a:r>
              <a:rPr lang="en-US" sz="1600" dirty="0">
                <a:solidFill>
                  <a:srgbClr val="667085"/>
                </a:solidFill>
              </a:rPr>
              <a:t>, and </a:t>
            </a:r>
            <a:r>
              <a:rPr lang="en-US" sz="1600" dirty="0" err="1">
                <a:solidFill>
                  <a:srgbClr val="667085"/>
                </a:solidFill>
              </a:rPr>
              <a:t>error_message</a:t>
            </a:r>
            <a:r>
              <a:rPr lang="en-US" sz="1600" dirty="0">
                <a:solidFill>
                  <a:srgbClr val="667085"/>
                </a:solidFill>
              </a:rPr>
              <a:t>; the same entry is mirrored to </a:t>
            </a:r>
            <a:r>
              <a:rPr lang="en-US" sz="1600" dirty="0" err="1">
                <a:solidFill>
                  <a:srgbClr val="667085"/>
                </a:solidFill>
              </a:rPr>
              <a:t>meta.ingestion_log</a:t>
            </a:r>
            <a:r>
              <a:rPr lang="en-US" sz="1600" dirty="0">
                <a:solidFill>
                  <a:srgbClr val="667085"/>
                </a:solidFill>
              </a:rPr>
              <a:t> in PostgreSQL.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667085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667085"/>
                </a:solidFill>
              </a:rPr>
              <a:t>Observed run: five cities ingested successfully — ~1,800 AQI records and 120 weather records per day — with zero extraction errors.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667085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667085"/>
                </a:solidFill>
              </a:rPr>
              <a:t>Scheduling: two Apache Airflow DAGs run daily — </a:t>
            </a:r>
            <a:r>
              <a:rPr lang="en-US" sz="1600" dirty="0" err="1">
                <a:solidFill>
                  <a:srgbClr val="667085"/>
                </a:solidFill>
              </a:rPr>
              <a:t>aqi_ingestion</a:t>
            </a:r>
            <a:r>
              <a:rPr lang="en-US" sz="1600" dirty="0">
                <a:solidFill>
                  <a:srgbClr val="667085"/>
                </a:solidFill>
              </a:rPr>
              <a:t> at 02:00 UTC and </a:t>
            </a:r>
            <a:r>
              <a:rPr lang="en-US" sz="1600" dirty="0" err="1">
                <a:solidFill>
                  <a:srgbClr val="667085"/>
                </a:solidFill>
              </a:rPr>
              <a:t>aqi_etl</a:t>
            </a:r>
            <a:r>
              <a:rPr lang="en-US" sz="1600" dirty="0">
                <a:solidFill>
                  <a:srgbClr val="667085"/>
                </a:solidFill>
              </a:rPr>
              <a:t> at 04:00 UTC — each with 3 automatic retries and exponential backoff.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667085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667085"/>
                </a:solidFill>
              </a:rPr>
              <a:t>Raw-copy maintenance: landing-zone JSON files are never modified after writing, so any date can be reprocessed from scratch without data loss.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777777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5836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365D"/>
                </a:solidFill>
              </a:rPr>
              <a:t>5. ETL &amp; Data Quality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40080" y="1261872"/>
            <a:ext cx="1234440" cy="0"/>
          </a:xfrm>
          <a:prstGeom prst="line">
            <a:avLst/>
          </a:prstGeom>
          <a:noFill/>
          <a:ln w="50800">
            <a:solidFill>
              <a:srgbClr val="F28C2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00200"/>
            <a:ext cx="10652760" cy="4251960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15240">
            <a:solidFill>
              <a:srgbClr val="D9DE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920240"/>
            <a:ext cx="10058400" cy="3611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667085"/>
                </a:solidFill>
              </a:rPr>
              <a:t>Standardization: normalizes all timestamps to UTC then converts to IST (UTC+5:30), resolves city aliases ("Bangalore" → "Bengaluru", "Bombay" → "Mumbai"), title-cases station names, and converts all pollutant units to µg/m³ (e.g. 1 ppb NO₂ = 1.912 µg/m³).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667085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667085"/>
                </a:solidFill>
              </a:rPr>
              <a:t>Validation rules: PM2.5 range 0–1,000 µg/m³, PM10 0–2,000, NO₂ 0–3,000, O₃ 0–1,000, CO 0–100,000, SO₂ 0–2,000; timestamp and value fields must not be null; duplicate records keyed on (</a:t>
            </a:r>
            <a:r>
              <a:rPr lang="en-US" sz="1600" dirty="0" err="1">
                <a:solidFill>
                  <a:srgbClr val="667085"/>
                </a:solidFill>
              </a:rPr>
              <a:t>location_id</a:t>
            </a:r>
            <a:r>
              <a:rPr lang="en-US" sz="1600" dirty="0">
                <a:solidFill>
                  <a:srgbClr val="667085"/>
                </a:solidFill>
              </a:rPr>
              <a:t>, parameter, </a:t>
            </a:r>
            <a:r>
              <a:rPr lang="en-US" sz="1600" dirty="0" err="1">
                <a:solidFill>
                  <a:srgbClr val="667085"/>
                </a:solidFill>
              </a:rPr>
              <a:t>measured_at_utc</a:t>
            </a:r>
            <a:r>
              <a:rPr lang="en-US" sz="1600" dirty="0">
                <a:solidFill>
                  <a:srgbClr val="667085"/>
                </a:solidFill>
              </a:rPr>
              <a:t>) are dropped keeping the first.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667085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667085"/>
                </a:solidFill>
              </a:rPr>
              <a:t>Rejected records are written with a </a:t>
            </a:r>
            <a:r>
              <a:rPr lang="en-US" sz="1600" dirty="0" err="1">
                <a:solidFill>
                  <a:srgbClr val="667085"/>
                </a:solidFill>
              </a:rPr>
              <a:t>rejection_reason</a:t>
            </a:r>
            <a:r>
              <a:rPr lang="en-US" sz="1600" dirty="0">
                <a:solidFill>
                  <a:srgbClr val="667085"/>
                </a:solidFill>
              </a:rPr>
              <a:t> to data/logs/error_log.csv and mirrored to </a:t>
            </a:r>
            <a:r>
              <a:rPr lang="en-US" sz="1600" dirty="0" err="1">
                <a:solidFill>
                  <a:srgbClr val="667085"/>
                </a:solidFill>
              </a:rPr>
              <a:t>cleaned.rejected_records</a:t>
            </a:r>
            <a:r>
              <a:rPr lang="en-US" sz="1600" dirty="0">
                <a:solidFill>
                  <a:srgbClr val="667085"/>
                </a:solidFill>
              </a:rPr>
              <a:t> in PostgreSQL — nothing is silently dropped.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667085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667085"/>
                </a:solidFill>
              </a:rPr>
              <a:t>Pipeline quality gate: if the overall rejection rate exceeds 20%, the Airflow ETL DAG fails and the gold layer is not updated, preventing bad data from reaching the dashboard.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667085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667085"/>
                </a:solidFill>
              </a:rPr>
              <a:t>Demonstrated run: all valid records passed validation with zero rejections; the rejection path was separately verified by injecting an out-of-range PM2.5 value of 9,999 µg/m³, which was correctly caught, logged, and excluded — confirmed by the unit tests in tests/test_etl.py.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777777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5836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365D"/>
                </a:solidFill>
              </a:rPr>
              <a:t>6. Database / Star Schema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40080" y="1261872"/>
            <a:ext cx="1234440" cy="0"/>
          </a:xfrm>
          <a:prstGeom prst="line">
            <a:avLst/>
          </a:prstGeom>
          <a:noFill/>
          <a:ln w="50800">
            <a:solidFill>
              <a:srgbClr val="F28C2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72966" y="1466491"/>
            <a:ext cx="11305607" cy="4951558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15240">
            <a:solidFill>
              <a:srgbClr val="D9DEE5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777777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  <p:sp>
        <p:nvSpPr>
          <p:cNvPr id="6" name="Shape 9">
            <a:extLst>
              <a:ext uri="{FF2B5EF4-FFF2-40B4-BE49-F238E27FC236}">
                <a16:creationId xmlns:a16="http://schemas.microsoft.com/office/drawing/2014/main" id="{E12E666B-1B1B-5EA6-0297-47384EA9FD22}"/>
              </a:ext>
            </a:extLst>
          </p:cNvPr>
          <p:cNvSpPr/>
          <p:nvPr/>
        </p:nvSpPr>
        <p:spPr>
          <a:xfrm>
            <a:off x="4655820" y="3369565"/>
            <a:ext cx="2895392" cy="954747"/>
          </a:xfrm>
          <a:prstGeom prst="roundRect">
            <a:avLst>
              <a:gd name="adj" fmla="val 6400"/>
            </a:avLst>
          </a:prstGeom>
          <a:solidFill>
            <a:srgbClr val="17365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10">
            <a:extLst>
              <a:ext uri="{FF2B5EF4-FFF2-40B4-BE49-F238E27FC236}">
                <a16:creationId xmlns:a16="http://schemas.microsoft.com/office/drawing/2014/main" id="{827E1B6F-DB5A-1042-7344-73BB7FE133AF}"/>
              </a:ext>
            </a:extLst>
          </p:cNvPr>
          <p:cNvSpPr/>
          <p:nvPr/>
        </p:nvSpPr>
        <p:spPr>
          <a:xfrm>
            <a:off x="4655820" y="3488437"/>
            <a:ext cx="2895392" cy="2673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gold.daily_city_aqi</a:t>
            </a:r>
            <a:endParaRPr lang="en-US" sz="1400" dirty="0"/>
          </a:p>
        </p:txBody>
      </p:sp>
      <p:sp>
        <p:nvSpPr>
          <p:cNvPr id="8" name="Text 11">
            <a:extLst>
              <a:ext uri="{FF2B5EF4-FFF2-40B4-BE49-F238E27FC236}">
                <a16:creationId xmlns:a16="http://schemas.microsoft.com/office/drawing/2014/main" id="{29C44497-7693-FA45-A517-D5895AFF5D8F}"/>
              </a:ext>
            </a:extLst>
          </p:cNvPr>
          <p:cNvSpPr/>
          <p:nvPr/>
        </p:nvSpPr>
        <p:spPr>
          <a:xfrm>
            <a:off x="4792979" y="3808477"/>
            <a:ext cx="2615193" cy="496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15000"/>
              </a:lnSpc>
            </a:pPr>
            <a:r>
              <a:rPr lang="en-US" sz="950" dirty="0">
                <a:solidFill>
                  <a:srgbClr val="D7DE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 table city, </a:t>
            </a:r>
            <a:r>
              <a:rPr lang="en-US" sz="950" dirty="0" err="1">
                <a:solidFill>
                  <a:srgbClr val="D7DE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date_ist</a:t>
            </a:r>
            <a:r>
              <a:rPr lang="en-US" sz="950" dirty="0">
                <a:solidFill>
                  <a:srgbClr val="D7DE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pm25_avg, pm10_avg, no2_avg, o3_avg, </a:t>
            </a:r>
            <a:r>
              <a:rPr lang="en-US" sz="950" dirty="0" err="1">
                <a:solidFill>
                  <a:srgbClr val="D7DE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co_avg</a:t>
            </a:r>
            <a:r>
              <a:rPr lang="en-US" sz="950" dirty="0">
                <a:solidFill>
                  <a:srgbClr val="D7DE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so2_avg, </a:t>
            </a:r>
            <a:r>
              <a:rPr lang="en-US" sz="950" dirty="0" err="1">
                <a:solidFill>
                  <a:srgbClr val="D7DE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aqi</a:t>
            </a:r>
            <a:r>
              <a:rPr lang="en-US" sz="950" dirty="0">
                <a:solidFill>
                  <a:srgbClr val="D7DE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950" dirty="0" err="1">
                <a:solidFill>
                  <a:srgbClr val="D7DE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aqi_category</a:t>
            </a:r>
            <a:r>
              <a:rPr lang="en-US" sz="950" dirty="0">
                <a:solidFill>
                  <a:srgbClr val="D7DE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950" dirty="0" err="1">
                <a:solidFill>
                  <a:srgbClr val="D7DE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dominant_pollutant</a:t>
            </a:r>
            <a:r>
              <a:rPr lang="en-US" sz="950" dirty="0">
                <a:solidFill>
                  <a:srgbClr val="D7DE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950" dirty="0" err="1">
                <a:solidFill>
                  <a:srgbClr val="D7DE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station_count</a:t>
            </a:r>
            <a:endParaRPr lang="en-US" sz="950" dirty="0"/>
          </a:p>
        </p:txBody>
      </p:sp>
      <p:sp>
        <p:nvSpPr>
          <p:cNvPr id="9" name="Shape 12">
            <a:extLst>
              <a:ext uri="{FF2B5EF4-FFF2-40B4-BE49-F238E27FC236}">
                <a16:creationId xmlns:a16="http://schemas.microsoft.com/office/drawing/2014/main" id="{A8FCE8FB-7666-5046-F619-808A0630C616}"/>
              </a:ext>
            </a:extLst>
          </p:cNvPr>
          <p:cNvSpPr/>
          <p:nvPr/>
        </p:nvSpPr>
        <p:spPr>
          <a:xfrm>
            <a:off x="998220" y="1700785"/>
            <a:ext cx="3035492" cy="916557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5875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13">
            <a:extLst>
              <a:ext uri="{FF2B5EF4-FFF2-40B4-BE49-F238E27FC236}">
                <a16:creationId xmlns:a16="http://schemas.microsoft.com/office/drawing/2014/main" id="{98C0CFB5-4212-421C-CBC2-7F3FC67FD968}"/>
              </a:ext>
            </a:extLst>
          </p:cNvPr>
          <p:cNvSpPr/>
          <p:nvPr/>
        </p:nvSpPr>
        <p:spPr>
          <a:xfrm>
            <a:off x="998220" y="1810513"/>
            <a:ext cx="3035492" cy="2444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50" b="1" dirty="0" err="1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dim_stations</a:t>
            </a:r>
            <a:endParaRPr lang="en-US" sz="1250" dirty="0"/>
          </a:p>
        </p:txBody>
      </p:sp>
      <p:sp>
        <p:nvSpPr>
          <p:cNvPr id="11" name="Text 14">
            <a:extLst>
              <a:ext uri="{FF2B5EF4-FFF2-40B4-BE49-F238E27FC236}">
                <a16:creationId xmlns:a16="http://schemas.microsoft.com/office/drawing/2014/main" id="{51A6A2C8-E99D-5DDF-3EC6-D34DA3BE37CB}"/>
              </a:ext>
            </a:extLst>
          </p:cNvPr>
          <p:cNvSpPr/>
          <p:nvPr/>
        </p:nvSpPr>
        <p:spPr>
          <a:xfrm>
            <a:off x="1107947" y="2121409"/>
            <a:ext cx="2811333" cy="496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10000"/>
              </a:lnSpc>
            </a:pPr>
            <a:r>
              <a:rPr lang="en-US" sz="950" dirty="0" err="1">
                <a:solidFill>
                  <a:srgbClr val="6670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location_id</a:t>
            </a:r>
            <a:r>
              <a:rPr lang="en-US" sz="950" dirty="0">
                <a:solidFill>
                  <a:srgbClr val="6670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950" dirty="0" err="1">
                <a:solidFill>
                  <a:srgbClr val="6670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station_name</a:t>
            </a:r>
            <a:r>
              <a:rPr lang="en-US" sz="950" dirty="0">
                <a:solidFill>
                  <a:srgbClr val="6670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city, country, latitude, longitude, </a:t>
            </a:r>
            <a:r>
              <a:rPr lang="en-US" sz="950" dirty="0" err="1">
                <a:solidFill>
                  <a:srgbClr val="6670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first_seen</a:t>
            </a:r>
            <a:r>
              <a:rPr lang="en-US" sz="950" dirty="0">
                <a:solidFill>
                  <a:srgbClr val="6670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950" dirty="0" err="1">
                <a:solidFill>
                  <a:srgbClr val="6670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last_seen</a:t>
            </a:r>
            <a:endParaRPr lang="en-US" sz="950" dirty="0"/>
          </a:p>
        </p:txBody>
      </p:sp>
      <p:sp>
        <p:nvSpPr>
          <p:cNvPr id="12" name="Shape 15">
            <a:extLst>
              <a:ext uri="{FF2B5EF4-FFF2-40B4-BE49-F238E27FC236}">
                <a16:creationId xmlns:a16="http://schemas.microsoft.com/office/drawing/2014/main" id="{1FD20E5C-6669-7F69-D132-5131992CC3F0}"/>
              </a:ext>
            </a:extLst>
          </p:cNvPr>
          <p:cNvSpPr/>
          <p:nvPr/>
        </p:nvSpPr>
        <p:spPr>
          <a:xfrm>
            <a:off x="3187178" y="2580804"/>
            <a:ext cx="2145203" cy="826862"/>
          </a:xfrm>
          <a:prstGeom prst="line">
            <a:avLst/>
          </a:prstGeom>
          <a:noFill/>
          <a:ln w="19050">
            <a:solidFill>
              <a:srgbClr val="F28C28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6">
            <a:extLst>
              <a:ext uri="{FF2B5EF4-FFF2-40B4-BE49-F238E27FC236}">
                <a16:creationId xmlns:a16="http://schemas.microsoft.com/office/drawing/2014/main" id="{888A49A1-25D8-ACF0-67B7-D3660E9981B6}"/>
              </a:ext>
            </a:extLst>
          </p:cNvPr>
          <p:cNvSpPr/>
          <p:nvPr/>
        </p:nvSpPr>
        <p:spPr>
          <a:xfrm>
            <a:off x="8221980" y="1700785"/>
            <a:ext cx="3035492" cy="916557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5875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7">
            <a:extLst>
              <a:ext uri="{FF2B5EF4-FFF2-40B4-BE49-F238E27FC236}">
                <a16:creationId xmlns:a16="http://schemas.microsoft.com/office/drawing/2014/main" id="{72409623-40BB-BBDC-B6A1-9FBC663E6ACB}"/>
              </a:ext>
            </a:extLst>
          </p:cNvPr>
          <p:cNvSpPr/>
          <p:nvPr/>
        </p:nvSpPr>
        <p:spPr>
          <a:xfrm>
            <a:off x="8221980" y="1810513"/>
            <a:ext cx="3035492" cy="2444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5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50" b="1" dirty="0" err="1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gold.pollutant_summary</a:t>
            </a:r>
            <a:endParaRPr lang="en-US" sz="1250" dirty="0"/>
          </a:p>
        </p:txBody>
      </p:sp>
      <p:sp>
        <p:nvSpPr>
          <p:cNvPr id="15" name="Text 18">
            <a:extLst>
              <a:ext uri="{FF2B5EF4-FFF2-40B4-BE49-F238E27FC236}">
                <a16:creationId xmlns:a16="http://schemas.microsoft.com/office/drawing/2014/main" id="{44CAB588-75FF-3F8E-5D85-32FFDED2D105}"/>
              </a:ext>
            </a:extLst>
          </p:cNvPr>
          <p:cNvSpPr/>
          <p:nvPr/>
        </p:nvSpPr>
        <p:spPr>
          <a:xfrm>
            <a:off x="8331707" y="2121409"/>
            <a:ext cx="2811333" cy="496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10000"/>
              </a:lnSpc>
            </a:pPr>
            <a:r>
              <a:rPr lang="en-US" sz="950" dirty="0" err="1">
                <a:solidFill>
                  <a:srgbClr val="6670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avg_value</a:t>
            </a:r>
            <a:r>
              <a:rPr lang="en-US" sz="950" dirty="0">
                <a:solidFill>
                  <a:srgbClr val="6670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(µg/m³), </a:t>
            </a:r>
            <a:r>
              <a:rPr lang="en-US" sz="950" dirty="0" err="1">
                <a:solidFill>
                  <a:srgbClr val="6670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aqi_sub_index</a:t>
            </a:r>
            <a:r>
              <a:rPr lang="en-US" sz="950" dirty="0">
                <a:solidFill>
                  <a:srgbClr val="6670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950" dirty="0" err="1">
                <a:solidFill>
                  <a:srgbClr val="6670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contribution_pct</a:t>
            </a:r>
            <a:r>
              <a:rPr lang="en-US" sz="950" dirty="0">
                <a:solidFill>
                  <a:srgbClr val="6670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per city per date</a:t>
            </a:r>
            <a:endParaRPr lang="en-US" sz="950" dirty="0"/>
          </a:p>
        </p:txBody>
      </p:sp>
      <p:sp>
        <p:nvSpPr>
          <p:cNvPr id="16" name="Shape 19">
            <a:extLst>
              <a:ext uri="{FF2B5EF4-FFF2-40B4-BE49-F238E27FC236}">
                <a16:creationId xmlns:a16="http://schemas.microsoft.com/office/drawing/2014/main" id="{7250413C-E16A-65F5-94ED-615EE35142D4}"/>
              </a:ext>
            </a:extLst>
          </p:cNvPr>
          <p:cNvSpPr/>
          <p:nvPr/>
        </p:nvSpPr>
        <p:spPr>
          <a:xfrm flipH="1">
            <a:off x="7263442" y="2511884"/>
            <a:ext cx="1164566" cy="1061128"/>
          </a:xfrm>
          <a:prstGeom prst="line">
            <a:avLst/>
          </a:prstGeom>
          <a:noFill/>
          <a:ln w="19050">
            <a:solidFill>
              <a:srgbClr val="F28C28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20">
            <a:extLst>
              <a:ext uri="{FF2B5EF4-FFF2-40B4-BE49-F238E27FC236}">
                <a16:creationId xmlns:a16="http://schemas.microsoft.com/office/drawing/2014/main" id="{FF76D864-49CD-CBB6-CFC8-1A1AED16B940}"/>
              </a:ext>
            </a:extLst>
          </p:cNvPr>
          <p:cNvSpPr/>
          <p:nvPr/>
        </p:nvSpPr>
        <p:spPr>
          <a:xfrm>
            <a:off x="8221980" y="4693603"/>
            <a:ext cx="3035492" cy="916557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5875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21">
            <a:extLst>
              <a:ext uri="{FF2B5EF4-FFF2-40B4-BE49-F238E27FC236}">
                <a16:creationId xmlns:a16="http://schemas.microsoft.com/office/drawing/2014/main" id="{1B6906CB-CF45-4D11-13A8-DBC5F91F0DF8}"/>
              </a:ext>
            </a:extLst>
          </p:cNvPr>
          <p:cNvSpPr/>
          <p:nvPr/>
        </p:nvSpPr>
        <p:spPr>
          <a:xfrm>
            <a:off x="8221980" y="4803331"/>
            <a:ext cx="3035492" cy="2444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50" b="1" dirty="0" err="1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gold.weather_aqi_daily</a:t>
            </a:r>
            <a:endParaRPr lang="en-US" sz="1250" dirty="0"/>
          </a:p>
        </p:txBody>
      </p:sp>
      <p:sp>
        <p:nvSpPr>
          <p:cNvPr id="19" name="Text 22">
            <a:extLst>
              <a:ext uri="{FF2B5EF4-FFF2-40B4-BE49-F238E27FC236}">
                <a16:creationId xmlns:a16="http://schemas.microsoft.com/office/drawing/2014/main" id="{AC556F94-1ED4-9F12-57D4-ACD3C22C96DD}"/>
              </a:ext>
            </a:extLst>
          </p:cNvPr>
          <p:cNvSpPr/>
          <p:nvPr/>
        </p:nvSpPr>
        <p:spPr>
          <a:xfrm>
            <a:off x="8331707" y="5114227"/>
            <a:ext cx="2811333" cy="496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10000"/>
              </a:lnSpc>
            </a:pPr>
            <a:r>
              <a:rPr lang="en-US" sz="950" dirty="0">
                <a:solidFill>
                  <a:srgbClr val="6670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city, </a:t>
            </a:r>
            <a:r>
              <a:rPr lang="en-US" sz="950" dirty="0" err="1">
                <a:solidFill>
                  <a:srgbClr val="6670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date_ist</a:t>
            </a:r>
            <a:r>
              <a:rPr lang="en-US" sz="950" dirty="0">
                <a:solidFill>
                  <a:srgbClr val="6670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950" dirty="0" err="1">
                <a:solidFill>
                  <a:srgbClr val="6670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aqi</a:t>
            </a:r>
            <a:r>
              <a:rPr lang="en-US" sz="950" dirty="0">
                <a:solidFill>
                  <a:srgbClr val="6670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950" dirty="0" err="1">
                <a:solidFill>
                  <a:srgbClr val="6670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temp_avg</a:t>
            </a:r>
            <a:r>
              <a:rPr lang="en-US" sz="950" dirty="0">
                <a:solidFill>
                  <a:srgbClr val="6670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950" dirty="0" err="1">
                <a:solidFill>
                  <a:srgbClr val="6670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humidity_avg</a:t>
            </a:r>
            <a:r>
              <a:rPr lang="en-US" sz="950" dirty="0">
                <a:solidFill>
                  <a:srgbClr val="6670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950" dirty="0" err="1">
                <a:solidFill>
                  <a:srgbClr val="6670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wind_speed_avg</a:t>
            </a:r>
            <a:r>
              <a:rPr lang="en-US" sz="950" dirty="0">
                <a:solidFill>
                  <a:srgbClr val="6670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950" dirty="0" err="1">
                <a:solidFill>
                  <a:srgbClr val="6670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precipitation_sum</a:t>
            </a:r>
            <a:endParaRPr lang="en-US" sz="950" dirty="0"/>
          </a:p>
        </p:txBody>
      </p:sp>
      <p:sp>
        <p:nvSpPr>
          <p:cNvPr id="20" name="Shape 23">
            <a:extLst>
              <a:ext uri="{FF2B5EF4-FFF2-40B4-BE49-F238E27FC236}">
                <a16:creationId xmlns:a16="http://schemas.microsoft.com/office/drawing/2014/main" id="{0B3D7699-F329-E118-3C26-BD4F9D0E860C}"/>
              </a:ext>
            </a:extLst>
          </p:cNvPr>
          <p:cNvSpPr/>
          <p:nvPr/>
        </p:nvSpPr>
        <p:spPr>
          <a:xfrm>
            <a:off x="7399024" y="4057587"/>
            <a:ext cx="1813987" cy="662366"/>
          </a:xfrm>
          <a:prstGeom prst="line">
            <a:avLst/>
          </a:prstGeom>
          <a:noFill/>
          <a:ln w="19050">
            <a:solidFill>
              <a:srgbClr val="F28C28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2D4785F0-6F84-02B2-5E1F-01A197559DF4}"/>
              </a:ext>
            </a:extLst>
          </p:cNvPr>
          <p:cNvSpPr/>
          <p:nvPr/>
        </p:nvSpPr>
        <p:spPr>
          <a:xfrm>
            <a:off x="1464118" y="4589467"/>
            <a:ext cx="3035492" cy="916557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5875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982A5D91-A912-4BB7-EDEE-3182F2C418B6}"/>
              </a:ext>
            </a:extLst>
          </p:cNvPr>
          <p:cNvSpPr/>
          <p:nvPr/>
        </p:nvSpPr>
        <p:spPr>
          <a:xfrm>
            <a:off x="1464118" y="4699195"/>
            <a:ext cx="3035492" cy="2444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50" b="1" dirty="0" err="1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gold.hourly_station_aqi</a:t>
            </a:r>
            <a:endParaRPr lang="en-US" sz="1250" dirty="0"/>
          </a:p>
        </p:txBody>
      </p:sp>
      <p:sp>
        <p:nvSpPr>
          <p:cNvPr id="27" name="Text 22">
            <a:extLst>
              <a:ext uri="{FF2B5EF4-FFF2-40B4-BE49-F238E27FC236}">
                <a16:creationId xmlns:a16="http://schemas.microsoft.com/office/drawing/2014/main" id="{1DEF104D-C022-F7D1-8B31-2EC06B4D2B47}"/>
              </a:ext>
            </a:extLst>
          </p:cNvPr>
          <p:cNvSpPr/>
          <p:nvPr/>
        </p:nvSpPr>
        <p:spPr>
          <a:xfrm>
            <a:off x="1573845" y="5010091"/>
            <a:ext cx="2811333" cy="496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10000"/>
              </a:lnSpc>
            </a:pPr>
            <a:r>
              <a:rPr lang="en-US" sz="950" dirty="0" err="1">
                <a:solidFill>
                  <a:srgbClr val="6670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location_id</a:t>
            </a:r>
            <a:r>
              <a:rPr lang="en-US" sz="950" dirty="0">
                <a:solidFill>
                  <a:srgbClr val="6670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950" dirty="0" err="1">
                <a:solidFill>
                  <a:srgbClr val="6670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hour_utc</a:t>
            </a:r>
            <a:r>
              <a:rPr lang="en-US" sz="950" dirty="0">
                <a:solidFill>
                  <a:srgbClr val="6670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950" dirty="0" err="1">
                <a:solidFill>
                  <a:srgbClr val="6670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hour_ist</a:t>
            </a:r>
            <a:r>
              <a:rPr lang="en-US" sz="950" dirty="0">
                <a:solidFill>
                  <a:srgbClr val="6670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pollutant averages, </a:t>
            </a:r>
            <a:r>
              <a:rPr lang="en-US" sz="950" dirty="0" err="1">
                <a:solidFill>
                  <a:srgbClr val="6670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aqi</a:t>
            </a:r>
            <a:r>
              <a:rPr lang="en-US" sz="950" dirty="0">
                <a:solidFill>
                  <a:srgbClr val="6670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950" dirty="0" err="1">
                <a:solidFill>
                  <a:srgbClr val="6670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aqi_category</a:t>
            </a:r>
            <a:r>
              <a:rPr lang="en-US" sz="950" dirty="0">
                <a:solidFill>
                  <a:srgbClr val="6670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per station per hour</a:t>
            </a:r>
            <a:endParaRPr lang="en-US" sz="950" dirty="0"/>
          </a:p>
        </p:txBody>
      </p:sp>
      <p:sp>
        <p:nvSpPr>
          <p:cNvPr id="29" name="Shape 19">
            <a:extLst>
              <a:ext uri="{FF2B5EF4-FFF2-40B4-BE49-F238E27FC236}">
                <a16:creationId xmlns:a16="http://schemas.microsoft.com/office/drawing/2014/main" id="{AADE8CA1-0F52-5A03-95BA-94263EDB0755}"/>
              </a:ext>
            </a:extLst>
          </p:cNvPr>
          <p:cNvSpPr/>
          <p:nvPr/>
        </p:nvSpPr>
        <p:spPr>
          <a:xfrm flipH="1">
            <a:off x="3779024" y="4188380"/>
            <a:ext cx="1013954" cy="401087"/>
          </a:xfrm>
          <a:prstGeom prst="line">
            <a:avLst/>
          </a:prstGeom>
          <a:noFill/>
          <a:ln w="19050">
            <a:solidFill>
              <a:srgbClr val="F28C28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4">
            <a:extLst>
              <a:ext uri="{FF2B5EF4-FFF2-40B4-BE49-F238E27FC236}">
                <a16:creationId xmlns:a16="http://schemas.microsoft.com/office/drawing/2014/main" id="{1EDB1A6C-A597-A48C-16C9-3098ECE007D4}"/>
              </a:ext>
            </a:extLst>
          </p:cNvPr>
          <p:cNvSpPr/>
          <p:nvPr/>
        </p:nvSpPr>
        <p:spPr>
          <a:xfrm>
            <a:off x="777240" y="5664189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6670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city + </a:t>
            </a:r>
            <a:r>
              <a:rPr lang="en-US" sz="1150" dirty="0" err="1">
                <a:solidFill>
                  <a:srgbClr val="6670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date_ist</a:t>
            </a:r>
            <a:r>
              <a:rPr lang="en-US" sz="1150" dirty="0">
                <a:solidFill>
                  <a:srgbClr val="6670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links </a:t>
            </a:r>
            <a:r>
              <a:rPr lang="en-US" sz="1150" dirty="0" err="1">
                <a:solidFill>
                  <a:srgbClr val="6670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gold.daily_city_aqi</a:t>
            </a:r>
            <a:r>
              <a:rPr lang="en-US" sz="1150" dirty="0">
                <a:solidFill>
                  <a:srgbClr val="6670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all four surrounding tables; </a:t>
            </a:r>
            <a:r>
              <a:rPr lang="en-US" sz="1150" dirty="0" err="1">
                <a:solidFill>
                  <a:srgbClr val="6670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gold.pollutant_summary</a:t>
            </a:r>
            <a:r>
              <a:rPr lang="en-US" sz="1150" dirty="0">
                <a:solidFill>
                  <a:srgbClr val="6670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r>
              <a:rPr lang="en-US" sz="1150" dirty="0" err="1">
                <a:solidFill>
                  <a:srgbClr val="6670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gold.weather_aqi_daily</a:t>
            </a:r>
            <a:r>
              <a:rPr lang="en-US" sz="1150" dirty="0">
                <a:solidFill>
                  <a:srgbClr val="6670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act as pre-aggregated data marts that speed up dashboard rollups without re-querying raw measurements.</a:t>
            </a:r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6670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16 is used with a 4-layer schema (raw → staging → cleaned → gold); indexes on city, </a:t>
            </a:r>
            <a:r>
              <a:rPr lang="en-US" sz="1150" dirty="0" err="1">
                <a:solidFill>
                  <a:srgbClr val="6670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date_ist</a:t>
            </a:r>
            <a:r>
              <a:rPr lang="en-US" sz="1150" dirty="0">
                <a:solidFill>
                  <a:srgbClr val="6670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150" dirty="0" err="1">
                <a:solidFill>
                  <a:srgbClr val="6670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location_id</a:t>
            </a:r>
            <a:r>
              <a:rPr lang="en-US" sz="1150" dirty="0">
                <a:solidFill>
                  <a:srgbClr val="6670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and parameter keep all dashboard queries fast.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5836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365D"/>
                </a:solidFill>
              </a:rPr>
              <a:t>7. Feature Engineering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40080" y="1261872"/>
            <a:ext cx="1234440" cy="0"/>
          </a:xfrm>
          <a:prstGeom prst="line">
            <a:avLst/>
          </a:prstGeom>
          <a:noFill/>
          <a:ln w="50800">
            <a:solidFill>
              <a:srgbClr val="F28C2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00200"/>
            <a:ext cx="10652760" cy="4251960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15240">
            <a:solidFill>
              <a:srgbClr val="D9DE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920240"/>
            <a:ext cx="10058400" cy="3611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rgbClr val="667085"/>
                </a:solidFill>
              </a:rPr>
              <a:t>aqi_sub_index</a:t>
            </a:r>
            <a:r>
              <a:rPr lang="en-US" sz="1600" dirty="0">
                <a:solidFill>
                  <a:srgbClr val="667085"/>
                </a:solidFill>
              </a:rPr>
              <a:t> = US EPA linear interpolation per pollutant: ((</a:t>
            </a:r>
            <a:r>
              <a:rPr lang="en-US" sz="1600" dirty="0" err="1">
                <a:solidFill>
                  <a:srgbClr val="667085"/>
                </a:solidFill>
              </a:rPr>
              <a:t>I_hi</a:t>
            </a:r>
            <a:r>
              <a:rPr lang="en-US" sz="1600" dirty="0">
                <a:solidFill>
                  <a:srgbClr val="667085"/>
                </a:solidFill>
              </a:rPr>
              <a:t> − </a:t>
            </a:r>
            <a:r>
              <a:rPr lang="en-US" sz="1600" dirty="0" err="1">
                <a:solidFill>
                  <a:srgbClr val="667085"/>
                </a:solidFill>
              </a:rPr>
              <a:t>I_lo</a:t>
            </a:r>
            <a:r>
              <a:rPr lang="en-US" sz="1600" dirty="0">
                <a:solidFill>
                  <a:srgbClr val="667085"/>
                </a:solidFill>
              </a:rPr>
              <a:t>) / (</a:t>
            </a:r>
            <a:r>
              <a:rPr lang="en-US" sz="1600" dirty="0" err="1">
                <a:solidFill>
                  <a:srgbClr val="667085"/>
                </a:solidFill>
              </a:rPr>
              <a:t>C_hi</a:t>
            </a:r>
            <a:r>
              <a:rPr lang="en-US" sz="1600" dirty="0">
                <a:solidFill>
                  <a:srgbClr val="667085"/>
                </a:solidFill>
              </a:rPr>
              <a:t> − </a:t>
            </a:r>
            <a:r>
              <a:rPr lang="en-US" sz="1600" dirty="0" err="1">
                <a:solidFill>
                  <a:srgbClr val="667085"/>
                </a:solidFill>
              </a:rPr>
              <a:t>C_lo</a:t>
            </a:r>
            <a:r>
              <a:rPr lang="en-US" sz="1600" dirty="0">
                <a:solidFill>
                  <a:srgbClr val="667085"/>
                </a:solidFill>
              </a:rPr>
              <a:t>)) × (C − </a:t>
            </a:r>
            <a:r>
              <a:rPr lang="en-US" sz="1600" dirty="0" err="1">
                <a:solidFill>
                  <a:srgbClr val="667085"/>
                </a:solidFill>
              </a:rPr>
              <a:t>C_lo</a:t>
            </a:r>
            <a:r>
              <a:rPr lang="en-US" sz="1600" dirty="0">
                <a:solidFill>
                  <a:srgbClr val="667085"/>
                </a:solidFill>
              </a:rPr>
              <a:t>) + </a:t>
            </a:r>
            <a:r>
              <a:rPr lang="en-US" sz="1600" dirty="0" err="1">
                <a:solidFill>
                  <a:srgbClr val="667085"/>
                </a:solidFill>
              </a:rPr>
              <a:t>I_lo</a:t>
            </a:r>
            <a:r>
              <a:rPr lang="en-US" sz="1600" dirty="0">
                <a:solidFill>
                  <a:srgbClr val="667085"/>
                </a:solidFill>
              </a:rPr>
              <a:t>; computed for each of the six pollutants independently using official breakpoint tables.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667085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rgbClr val="667085"/>
                </a:solidFill>
              </a:rPr>
              <a:t>overall_aqi</a:t>
            </a:r>
            <a:r>
              <a:rPr lang="en-US" sz="1600" dirty="0">
                <a:solidFill>
                  <a:srgbClr val="667085"/>
                </a:solidFill>
              </a:rPr>
              <a:t> = max(pm25_sub_index, pm10_sub_index, no2_sub_index, o3_sub_index, </a:t>
            </a:r>
            <a:r>
              <a:rPr lang="en-US" sz="1600" dirty="0" err="1">
                <a:solidFill>
                  <a:srgbClr val="667085"/>
                </a:solidFill>
              </a:rPr>
              <a:t>co_sub_index</a:t>
            </a:r>
            <a:r>
              <a:rPr lang="en-US" sz="1600" dirty="0">
                <a:solidFill>
                  <a:srgbClr val="667085"/>
                </a:solidFill>
              </a:rPr>
              <a:t>, so2_sub_index); </a:t>
            </a:r>
            <a:r>
              <a:rPr lang="en-US" sz="1600" dirty="0" err="1">
                <a:solidFill>
                  <a:srgbClr val="667085"/>
                </a:solidFill>
              </a:rPr>
              <a:t>dominant_pollutant</a:t>
            </a:r>
            <a:r>
              <a:rPr lang="en-US" sz="1600" dirty="0">
                <a:solidFill>
                  <a:srgbClr val="667085"/>
                </a:solidFill>
              </a:rPr>
              <a:t> = the pollutant with the highest sub-index on that day.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667085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rgbClr val="667085"/>
                </a:solidFill>
              </a:rPr>
              <a:t>aqi_category</a:t>
            </a:r>
            <a:r>
              <a:rPr lang="en-US" sz="1600" dirty="0">
                <a:solidFill>
                  <a:srgbClr val="667085"/>
                </a:solidFill>
              </a:rPr>
              <a:t> = Good if AQI ≤ 50, Moderate ≤ 100, Unhealthy for Sensitive Groups ≤ 150, Unhealthy ≤ 200, Very Unhealthy ≤ 300, Hazardous &gt; 300.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667085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rgbClr val="667085"/>
                </a:solidFill>
              </a:rPr>
              <a:t>contribution_pct</a:t>
            </a:r>
            <a:r>
              <a:rPr lang="en-US" sz="1600" dirty="0">
                <a:solidFill>
                  <a:srgbClr val="667085"/>
                </a:solidFill>
              </a:rPr>
              <a:t> = (</a:t>
            </a:r>
            <a:r>
              <a:rPr lang="en-US" sz="1600" dirty="0" err="1">
                <a:solidFill>
                  <a:srgbClr val="667085"/>
                </a:solidFill>
              </a:rPr>
              <a:t>pollutant_sub_index</a:t>
            </a:r>
            <a:r>
              <a:rPr lang="en-US" sz="1600" dirty="0">
                <a:solidFill>
                  <a:srgbClr val="667085"/>
                </a:solidFill>
              </a:rPr>
              <a:t> ÷ sum of all sub-indices) × 100; used in the pollutant contribution pie chart to show which pollutant is driving AQI on a given day.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667085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667085"/>
                </a:solidFill>
              </a:rPr>
              <a:t>aqi_7day_avg = 7-day rolling mean of daily city AQI, computed in the v_rolling_7day_aqi view; smooths short spikes for trend analysis. (Part 2 will extend this with lag-1, lag-7, and lag-14 features for model training.)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777777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5836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365D"/>
                </a:solidFill>
              </a:rPr>
              <a:t>8. Dashboard &amp; Analytics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40080" y="1261872"/>
            <a:ext cx="1234440" cy="0"/>
          </a:xfrm>
          <a:prstGeom prst="line">
            <a:avLst/>
          </a:prstGeom>
          <a:noFill/>
          <a:ln w="50800">
            <a:solidFill>
              <a:srgbClr val="F28C2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00200"/>
            <a:ext cx="10652760" cy="4251960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15240">
            <a:solidFill>
              <a:srgbClr val="D9DE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920240"/>
            <a:ext cx="10058400" cy="3611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67085"/>
                </a:solidFill>
              </a:rPr>
              <a:t>Insert screenshots of at least five meaningful views: revenue trends, top products, segmentation, country-wise sales, retention/repeat purchase.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777777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5836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365D"/>
                </a:solidFill>
              </a:rPr>
              <a:t>9. Pipeline Execution Evidence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40080" y="1261872"/>
            <a:ext cx="1234440" cy="0"/>
          </a:xfrm>
          <a:prstGeom prst="line">
            <a:avLst/>
          </a:prstGeom>
          <a:noFill/>
          <a:ln w="50800">
            <a:solidFill>
              <a:srgbClr val="F28C2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00200"/>
            <a:ext cx="10652760" cy="4251960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15240">
            <a:solidFill>
              <a:srgbClr val="D9DE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920240"/>
            <a:ext cx="10058400" cy="3611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67085"/>
                </a:solidFill>
              </a:rPr>
              <a:t>Insert screenshots/logs showing one successful end-to-end run from ingestion to dashboard output.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777777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5836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365D"/>
                </a:solidFill>
              </a:rPr>
              <a:t>10. MLOps Extension – Part 2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40080" y="1261872"/>
            <a:ext cx="1234440" cy="0"/>
          </a:xfrm>
          <a:prstGeom prst="line">
            <a:avLst/>
          </a:prstGeom>
          <a:noFill/>
          <a:ln w="50800">
            <a:solidFill>
              <a:srgbClr val="F28C2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00200"/>
            <a:ext cx="10652760" cy="4251960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15240">
            <a:solidFill>
              <a:srgbClr val="D9DE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920240"/>
            <a:ext cx="10058400" cy="3611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67085"/>
                </a:solidFill>
              </a:rPr>
              <a:t>Churn definition • Model candidates • MLflow tracking • Model registry • FastAPI • Docker • Monitoring • Retraining criteria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777777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5836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365D"/>
                </a:solidFill>
              </a:rPr>
              <a:t>11. Results &amp; Key Insights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40080" y="1261872"/>
            <a:ext cx="1234440" cy="0"/>
          </a:xfrm>
          <a:prstGeom prst="line">
            <a:avLst/>
          </a:prstGeom>
          <a:noFill/>
          <a:ln w="50800">
            <a:solidFill>
              <a:srgbClr val="F28C2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00200"/>
            <a:ext cx="10652760" cy="4251960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15240">
            <a:solidFill>
              <a:srgbClr val="D9DE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920240"/>
            <a:ext cx="10058400" cy="3611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67085"/>
                </a:solidFill>
              </a:rPr>
              <a:t>Summarize the most important business/data-engineering findings and, for Part 2, model evaluation results.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777777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5836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365D"/>
                </a:solidFill>
              </a:rPr>
              <a:t>12. Challenges &amp; Learning Outcomes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40080" y="1261872"/>
            <a:ext cx="1234440" cy="0"/>
          </a:xfrm>
          <a:prstGeom prst="line">
            <a:avLst/>
          </a:prstGeom>
          <a:noFill/>
          <a:ln w="50800">
            <a:solidFill>
              <a:srgbClr val="F28C2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00200"/>
            <a:ext cx="10652760" cy="4251960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15240">
            <a:solidFill>
              <a:srgbClr val="D9DE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920240"/>
            <a:ext cx="10058400" cy="3611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67085"/>
                </a:solidFill>
              </a:rPr>
              <a:t>Mention technical challenges, how they were solved, and key learning outcomes from the project.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777777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5836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365D"/>
                </a:solidFill>
              </a:rPr>
              <a:t>13. Conclusion &amp; Future Scope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40080" y="1261872"/>
            <a:ext cx="1234440" cy="0"/>
          </a:xfrm>
          <a:prstGeom prst="line">
            <a:avLst/>
          </a:prstGeom>
          <a:noFill/>
          <a:ln w="50800">
            <a:solidFill>
              <a:srgbClr val="F28C2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00200"/>
            <a:ext cx="10652760" cy="4251960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15240">
            <a:solidFill>
              <a:srgbClr val="D9DE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920240"/>
            <a:ext cx="10058400" cy="3611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67085"/>
                </a:solidFill>
              </a:rPr>
              <a:t>Summarize what was achieved and identify possible enhancements or future extensions.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777777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5836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365D"/>
                </a:solidFill>
              </a:rPr>
              <a:t>14. References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40080" y="1261872"/>
            <a:ext cx="1234440" cy="0"/>
          </a:xfrm>
          <a:prstGeom prst="line">
            <a:avLst/>
          </a:prstGeom>
          <a:noFill/>
          <a:ln w="50800">
            <a:solidFill>
              <a:srgbClr val="F28C2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00200"/>
            <a:ext cx="10652760" cy="4251960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15240">
            <a:solidFill>
              <a:srgbClr val="D9DE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920240"/>
            <a:ext cx="10058400" cy="3611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67085"/>
                </a:solidFill>
              </a:rPr>
              <a:t>List dataset sources, documentation, libraries/tools, papers, and other references used in the project.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777777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5836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365D"/>
                </a:solidFill>
              </a:rPr>
              <a:t>Thank You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40080" y="1261872"/>
            <a:ext cx="1234440" cy="0"/>
          </a:xfrm>
          <a:prstGeom prst="line">
            <a:avLst/>
          </a:prstGeom>
          <a:noFill/>
          <a:ln w="50800">
            <a:solidFill>
              <a:srgbClr val="F28C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2423160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7365D"/>
                </a:solidFill>
              </a:rPr>
              <a:t>Questions &amp; Discussion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2103120" y="324612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67085"/>
                </a:solidFill>
              </a:rPr>
              <a:t>Student Name: </a:t>
            </a:r>
            <a:r>
              <a:rPr lang="en-US" sz="1600" u="sng" dirty="0">
                <a:solidFill>
                  <a:srgbClr val="667085"/>
                </a:solidFill>
              </a:rPr>
              <a:t>Manya Michelle</a:t>
            </a:r>
            <a:r>
              <a:rPr lang="en-US" sz="1600" dirty="0">
                <a:solidFill>
                  <a:srgbClr val="667085"/>
                </a:solidFill>
              </a:rPr>
              <a:t>  |   USN: </a:t>
            </a:r>
            <a:r>
              <a:rPr lang="en-US" sz="1600" u="sng" dirty="0">
                <a:solidFill>
                  <a:srgbClr val="667085"/>
                </a:solidFill>
              </a:rPr>
              <a:t>1CR23CI026</a:t>
            </a:r>
            <a:endParaRPr lang="en-US" sz="1600" u="sng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777777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1708</Words>
  <Application>Microsoft Office PowerPoint</Application>
  <PresentationFormat>Widescreen</PresentationFormat>
  <Paragraphs>136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MVJ College of Engineering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MVJCE Project Presentation Template</dc:title>
  <dc:subject>MVJCE Data Engineering and MLOps Project Presentation Template</dc:subject>
  <dc:creator>OpenAI</dc:creator>
  <cp:lastModifiedBy>Michelle Manya</cp:lastModifiedBy>
  <cp:revision>9</cp:revision>
  <dcterms:created xsi:type="dcterms:W3CDTF">2026-08-20T04:43:31Z</dcterms:created>
  <dcterms:modified xsi:type="dcterms:W3CDTF">2026-09-07T19:33:53Z</dcterms:modified>
</cp:coreProperties>
</file>